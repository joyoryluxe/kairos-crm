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8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463040"/>
            <a:ext cx="73152" cy="3840480"/>
          </a:xfrm>
          <a:prstGeom prst="rect">
            <a:avLst/>
          </a:prstGeom>
          <a:solidFill>
            <a:srgbClr val="C8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00200"/>
            <a:ext cx="1828800" cy="1097280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A8A9A"/>
                </a:solidFill>
              </a:rPr>
              <a:t>[ LOGO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64592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KAIROS CRM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26517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8D89A"/>
                </a:solidFill>
              </a:rPr>
              <a:t>Customer Relationship Management 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3246120"/>
            <a:ext cx="5486400" cy="27432"/>
          </a:xfrm>
          <a:prstGeom prst="rect">
            <a:avLst/>
          </a:prstGeom>
          <a:solidFill>
            <a:srgbClr val="C8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338328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5C5D5"/>
                </a:solidFill>
              </a:rPr>
              <a:t>A full-stack MERN + TypeScript monorepo built for
photography studios — managing leads, shoots, invoices &amp; more.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A9A"/>
                </a:solidFill>
              </a:rPr>
              <a:t>Presentation  | 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C8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8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C8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77240"/>
            <a:ext cx="3200400" cy="27432"/>
          </a:xfrm>
          <a:prstGeom prst="rect">
            <a:avLst/>
          </a:prstGeom>
          <a:solidFill>
            <a:srgbClr val="C8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A43E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051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5C5D5"/>
                </a:solidFill>
              </a:rPr>
              <a:t>Project Overview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27632"/>
            <a:ext cx="5303520" cy="13716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82880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A43E"/>
                </a:solidFill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87451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5C5D5"/>
                </a:solidFill>
              </a:rPr>
              <a:t>Tech Stack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450592"/>
            <a:ext cx="5303520" cy="13716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65176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A43E"/>
                </a:solidFill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697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5C5D5"/>
                </a:solidFill>
              </a:rPr>
              <a:t>System Architecture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273552"/>
            <a:ext cx="5303520" cy="13716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47472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A43E"/>
                </a:solidFill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520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5C5D5"/>
                </a:solidFill>
              </a:rPr>
              <a:t>Key Features &amp; Modules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096512"/>
            <a:ext cx="5303520" cy="13716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2976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A43E"/>
                </a:solidFill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343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5C5D5"/>
                </a:solidFill>
              </a:rPr>
              <a:t>Data Models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919472"/>
            <a:ext cx="5303520" cy="13716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12064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A43E"/>
                </a:solidFill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516635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5C5D5"/>
                </a:solidFill>
              </a:rPr>
              <a:t>API Routes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742431"/>
            <a:ext cx="5303520" cy="13716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100584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A43E"/>
                </a:solidFill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1051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5C5D5"/>
                </a:solidFill>
              </a:rPr>
              <a:t>Frontend Pages &amp; Components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46520" y="1627632"/>
            <a:ext cx="5303520" cy="13716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182880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A43E"/>
                </a:solidFill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187451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5C5D5"/>
                </a:solidFill>
              </a:rPr>
              <a:t>Authentication &amp; Security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6520" y="2450592"/>
            <a:ext cx="5303520" cy="13716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265176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A43E"/>
                </a:solidFill>
              </a:rPr>
              <a:t>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2697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5C5D5"/>
                </a:solidFill>
              </a:rPr>
              <a:t>Invoice &amp; Package Management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46520" y="3273552"/>
            <a:ext cx="5303520" cy="13716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347472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A43E"/>
                </a:solidFill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86600" y="3520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5C5D5"/>
                </a:solidFill>
              </a:rPr>
              <a:t>Demo Mode &amp; Reset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46520" y="4096512"/>
            <a:ext cx="5303520" cy="13716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42976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A43E"/>
                </a:solidFill>
              </a:rPr>
              <a:t>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86600" y="4343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5C5D5"/>
                </a:solidFill>
              </a:rPr>
              <a:t>Screenshots  [ to be added ]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46520" y="4919472"/>
            <a:ext cx="5303520" cy="13716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512064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A43E"/>
                </a:solidFill>
              </a:rPr>
              <a:t>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86600" y="516635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5C5D5"/>
                </a:solidFill>
              </a:rPr>
              <a:t>Conclusion &amp; Next Steps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46520" y="5742431"/>
            <a:ext cx="5303520" cy="13716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8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C8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01  |  PROJECT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77240"/>
            <a:ext cx="5486400" cy="27432"/>
          </a:xfrm>
          <a:prstGeom prst="rect">
            <a:avLst/>
          </a:prstGeom>
          <a:solidFill>
            <a:srgbClr val="C8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144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D89A"/>
                </a:solidFill>
              </a:rPr>
              <a:t>What is KAIROS CRM?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5C5D5"/>
                </a:solidFill>
              </a:rPr>
              <a:t>KAIROS CRM is a purpose-built Customer Relationship Management platform designed for photography studios. It centralises client data, booking workflows, payments, and internal operations into a single, role-based web application.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423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D89A"/>
                </a:solidFill>
              </a:rPr>
              <a:t>Goals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83464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5C5D5"/>
                </a:solidFill>
              </a:rPr>
              <a:t>▸  Centralise client &amp; lead management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5C5D5"/>
                </a:solidFill>
              </a:rPr>
              <a:t>▸  Automate invoice generation &amp; reminders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5C5D5"/>
                </a:solidFill>
              </a:rPr>
              <a:t>▸  Streamline booking for multiple shoot types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5C5D5"/>
                </a:solidFill>
              </a:rPr>
              <a:t>▸  Provide real-time dashboard analytics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5C5D5"/>
                </a:solidFill>
              </a:rPr>
              <a:t>▸  Enable secure, role-based access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423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D89A"/>
                </a:solidFill>
              </a:rPr>
              <a:t>Key Highlights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83464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5C5D5"/>
                </a:solidFill>
              </a:rPr>
              <a:t>▸  MERN + TypeScript monorepo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5C5D5"/>
                </a:solidFill>
              </a:rPr>
              <a:t>▸  JWT + Google OAuth authentication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5C5D5"/>
                </a:solidFill>
              </a:rPr>
              <a:t>▸  Email notifications via Nodemailer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5C5D5"/>
                </a:solidFill>
              </a:rPr>
              <a:t>▸  Demo mode with auto-reset on logout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5C5D5"/>
                </a:solidFill>
              </a:rPr>
              <a:t>▸  Responsive, dark-themed UI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8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C8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02  |  TECH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77240"/>
            <a:ext cx="3657600" cy="27432"/>
          </a:xfrm>
          <a:prstGeom prst="rect">
            <a:avLst/>
          </a:prstGeom>
          <a:solidFill>
            <a:srgbClr val="C8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2606040" cy="5303520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960120"/>
            <a:ext cx="36576" cy="5303520"/>
          </a:xfrm>
          <a:prstGeom prst="rect">
            <a:avLst/>
          </a:prstGeom>
          <a:solidFill>
            <a:srgbClr val="C8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05156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D89A"/>
                </a:solidFill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325880"/>
            <a:ext cx="2423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C5C5D5"/>
                </a:solidFill>
              </a:rPr>
              <a:t>• React 18 + Vite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5C5D5"/>
                </a:solidFill>
              </a:rPr>
              <a:t>• TypeScript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5C5D5"/>
                </a:solidFill>
              </a:rPr>
              <a:t>• React Router v6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5C5D5"/>
                </a:solidFill>
              </a:rPr>
              <a:t>• Axios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5C5D5"/>
                </a:solidFill>
              </a:rPr>
              <a:t>• Vanilla CSS (custom design system)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960120"/>
            <a:ext cx="2606040" cy="5303520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960120"/>
            <a:ext cx="36576" cy="5303520"/>
          </a:xfrm>
          <a:prstGeom prst="rect">
            <a:avLst/>
          </a:prstGeom>
          <a:solidFill>
            <a:srgbClr val="C8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105156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D89A"/>
                </a:solidFill>
              </a:rP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1325880"/>
            <a:ext cx="2423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C5C5D5"/>
                </a:solidFill>
              </a:rPr>
              <a:t>• Node.js + Express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5C5D5"/>
                </a:solidFill>
              </a:rPr>
              <a:t>• TypeScript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5C5D5"/>
                </a:solidFill>
              </a:rPr>
              <a:t>• Mongoose (ODM)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5C5D5"/>
                </a:solidFill>
              </a:rPr>
              <a:t>• JWT Authentication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5C5D5"/>
                </a:solidFill>
              </a:rPr>
              <a:t>• Nodemailer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960120"/>
            <a:ext cx="2606040" cy="5303520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960120"/>
            <a:ext cx="36576" cy="5303520"/>
          </a:xfrm>
          <a:prstGeom prst="rect">
            <a:avLst/>
          </a:prstGeom>
          <a:solidFill>
            <a:srgbClr val="C8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05156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D89A"/>
                </a:solidFill>
              </a:rPr>
              <a:t>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1325880"/>
            <a:ext cx="2423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C5C5D5"/>
                </a:solidFill>
              </a:rPr>
              <a:t>• MongoDB Atlas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5C5D5"/>
                </a:solidFill>
              </a:rPr>
              <a:t>• Mongoose schemas &amp; models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5C5D5"/>
                </a:solidFill>
              </a:rPr>
              <a:t>• Data validation at model layer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81160" y="960120"/>
            <a:ext cx="2606040" cy="5303520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81160" y="960120"/>
            <a:ext cx="36576" cy="5303520"/>
          </a:xfrm>
          <a:prstGeom prst="rect">
            <a:avLst/>
          </a:prstGeom>
          <a:solidFill>
            <a:srgbClr val="C8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90888" y="105156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D89A"/>
                </a:solidFill>
              </a:rPr>
              <a:t>DevOps /
Tooling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90888" y="1325880"/>
            <a:ext cx="2423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C5C5D5"/>
                </a:solidFill>
              </a:rPr>
              <a:t>• Concurrently (monorepo dev)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5C5D5"/>
                </a:solidFill>
              </a:rPr>
              <a:t>• ts-node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5C5D5"/>
                </a:solidFill>
              </a:rPr>
              <a:t>• dotenv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5C5D5"/>
                </a:solidFill>
              </a:rPr>
              <a:t>• ESLint + Prettier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5C5D5"/>
                </a:solidFill>
              </a:rPr>
              <a:t>• Google OAuth 2.0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8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C8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03  |  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77240"/>
            <a:ext cx="5029200" cy="27432"/>
          </a:xfrm>
          <a:prstGeom prst="rect">
            <a:avLst/>
          </a:prstGeom>
          <a:solidFill>
            <a:srgbClr val="C8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286000" cy="1005840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286000" cy="36576"/>
          </a:xfrm>
          <a:prstGeom prst="rect">
            <a:avLst/>
          </a:prstGeom>
          <a:solidFill>
            <a:srgbClr val="C8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CLIENT
(React + Vite)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0" y="1371600"/>
            <a:ext cx="2514600" cy="1005840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46320" y="1371600"/>
            <a:ext cx="2514600" cy="36576"/>
          </a:xfrm>
          <a:prstGeom prst="rect">
            <a:avLst/>
          </a:prstGeom>
          <a:solidFill>
            <a:srgbClr val="C8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554480"/>
            <a:ext cx="2514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EXPRESS
SERVER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61120" y="1371600"/>
            <a:ext cx="2560320" cy="1005840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961120" y="1371600"/>
            <a:ext cx="2560320" cy="36576"/>
          </a:xfrm>
          <a:prstGeom prst="rect">
            <a:avLst/>
          </a:prstGeom>
          <a:solidFill>
            <a:srgbClr val="C8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0" y="155448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MONGODB
ATLAS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3749039"/>
            <a:ext cx="2514600" cy="1005840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46320" y="3749039"/>
            <a:ext cx="2514600" cy="36576"/>
          </a:xfrm>
          <a:prstGeom prst="rect">
            <a:avLst/>
          </a:prstGeom>
          <a:solidFill>
            <a:srgbClr val="C8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3931920"/>
            <a:ext cx="2514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NODEMAILER
Email Service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5303520"/>
            <a:ext cx="2514600" cy="1005840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46320" y="5303520"/>
            <a:ext cx="2514600" cy="36576"/>
          </a:xfrm>
          <a:prstGeom prst="rect">
            <a:avLst/>
          </a:prstGeom>
          <a:solidFill>
            <a:srgbClr val="C8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0" y="5486400"/>
            <a:ext cx="2514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GOOGLE
OAuth 2.0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0" y="1783080"/>
            <a:ext cx="2103120" cy="36576"/>
          </a:xfrm>
          <a:prstGeom prst="rect">
            <a:avLst/>
          </a:prstGeom>
          <a:solidFill>
            <a:srgbClr val="C8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0" y="15544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8A9A"/>
                </a:solidFill>
              </a:rPr>
              <a:t>REST API  /  HTTPS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60920" y="1783080"/>
            <a:ext cx="1600200" cy="36576"/>
          </a:xfrm>
          <a:prstGeom prst="rect">
            <a:avLst/>
          </a:prstGeom>
          <a:solidFill>
            <a:srgbClr val="C8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60920" y="155448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8A9A"/>
                </a:solidFill>
              </a:rPr>
              <a:t>Mongoose ODM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760" y="2377440"/>
            <a:ext cx="36576" cy="1371600"/>
          </a:xfrm>
          <a:prstGeom prst="rect">
            <a:avLst/>
          </a:prstGeom>
          <a:solidFill>
            <a:srgbClr val="C8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28346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A9A"/>
                </a:solidFill>
              </a:rPr>
              <a:t>SMTP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80760" y="3931920"/>
            <a:ext cx="36576" cy="1371600"/>
          </a:xfrm>
          <a:prstGeom prst="rect">
            <a:avLst/>
          </a:prstGeom>
          <a:solidFill>
            <a:srgbClr val="C8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0" y="4389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A9A"/>
                </a:solidFill>
              </a:rPr>
              <a:t>OAuth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21792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A9A"/>
                </a:solidFill>
              </a:rPr>
              <a:t>Monorepo structure:  /client  (Vite React)   +   /server  (Express API)
Both packages run concurrently in development with shared TypeScript config.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8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C8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04  |  KEY FEATURES &amp; MODULES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77240"/>
            <a:ext cx="5486400" cy="27432"/>
          </a:xfrm>
          <a:prstGeom prst="rect">
            <a:avLst/>
          </a:prstGeom>
          <a:solidFill>
            <a:srgbClr val="C8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3474720" cy="2697480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960120"/>
            <a:ext cx="36576" cy="2697480"/>
          </a:xfrm>
          <a:prstGeom prst="rect">
            <a:avLst/>
          </a:prstGeom>
          <a:solidFill>
            <a:srgbClr val="C8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051560"/>
            <a:ext cx="3291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D89A"/>
                </a:solidFill>
              </a:rPr>
              <a:t>📊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325880"/>
            <a:ext cx="3291839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C5C5D5"/>
                </a:solidFill>
              </a:rPr>
              <a:t>• Real-time KPI overview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5C5D5"/>
                </a:solidFill>
              </a:rPr>
              <a:t>• Revenue charts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5C5D5"/>
                </a:solidFill>
              </a:rPr>
              <a:t>• Upcoming bookings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5C5D5"/>
                </a:solidFill>
              </a:rPr>
              <a:t>• Quick-action shortcuts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960120"/>
            <a:ext cx="3474720" cy="2697480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960120"/>
            <a:ext cx="36576" cy="2697480"/>
          </a:xfrm>
          <a:prstGeom prst="rect">
            <a:avLst/>
          </a:prstGeom>
          <a:solidFill>
            <a:srgbClr val="C8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8" y="1051560"/>
            <a:ext cx="3291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D89A"/>
                </a:solidFill>
              </a:rPr>
              <a:t>👥 Leads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1325880"/>
            <a:ext cx="3291839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C5C5D5"/>
                </a:solidFill>
              </a:rPr>
              <a:t>• Lead capture &amp; pipeline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5C5D5"/>
                </a:solidFill>
              </a:rPr>
              <a:t>• Status tracking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5C5D5"/>
                </a:solidFill>
              </a:rPr>
              <a:t>• Follow-up reminders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5C5D5"/>
                </a:solidFill>
              </a:rPr>
              <a:t>• Conversion analytics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960120"/>
            <a:ext cx="3474720" cy="2697480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960120"/>
            <a:ext cx="36576" cy="2697480"/>
          </a:xfrm>
          <a:prstGeom prst="rect">
            <a:avLst/>
          </a:prstGeom>
          <a:solidFill>
            <a:srgbClr val="C8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051560"/>
            <a:ext cx="3291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D89A"/>
                </a:solidFill>
              </a:rPr>
              <a:t>📷 Edits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1325880"/>
            <a:ext cx="3291839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C5C5D5"/>
                </a:solidFill>
              </a:rPr>
              <a:t>• Post-shoot editing tracker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5C5D5"/>
                </a:solidFill>
              </a:rPr>
              <a:t>• Delivery status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5C5D5"/>
                </a:solidFill>
              </a:rPr>
              <a:t>• Client feedback log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5C5D5"/>
                </a:solidFill>
              </a:rPr>
              <a:t>• Deadline management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794760"/>
            <a:ext cx="3474720" cy="2697480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794760"/>
            <a:ext cx="36576" cy="2697480"/>
          </a:xfrm>
          <a:prstGeom prst="rect">
            <a:avLst/>
          </a:prstGeom>
          <a:solidFill>
            <a:srgbClr val="C8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3886200"/>
            <a:ext cx="3291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D89A"/>
                </a:solidFill>
              </a:rPr>
              <a:t>🤱 Maternity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4160520"/>
            <a:ext cx="3291839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C5C5D5"/>
                </a:solidFill>
              </a:rPr>
              <a:t>• Maternity shoot bookings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5C5D5"/>
                </a:solidFill>
              </a:rPr>
              <a:t>• Trimester tracking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5C5D5"/>
                </a:solidFill>
              </a:rPr>
              <a:t>• Package selection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5C5D5"/>
                </a:solidFill>
              </a:rPr>
              <a:t>• Photo delivery tracking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60" y="3794760"/>
            <a:ext cx="3474720" cy="2697480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51960" y="3794760"/>
            <a:ext cx="36576" cy="2697480"/>
          </a:xfrm>
          <a:prstGeom prst="rect">
            <a:avLst/>
          </a:prstGeom>
          <a:solidFill>
            <a:srgbClr val="C8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61688" y="3886200"/>
            <a:ext cx="3291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D89A"/>
                </a:solidFill>
              </a:rPr>
              <a:t>🎉 Corporate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61688" y="4160520"/>
            <a:ext cx="3291839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C5C5D5"/>
                </a:solidFill>
              </a:rPr>
              <a:t>• Corporate event bookings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5C5D5"/>
                </a:solidFill>
              </a:rPr>
              <a:t>• Multiple contact mgmt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5C5D5"/>
                </a:solidFill>
              </a:rPr>
              <a:t>• Custom packages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5C5D5"/>
                </a:solidFill>
              </a:rPr>
              <a:t>• Event briefs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60" y="3794760"/>
            <a:ext cx="3474720" cy="2697480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3794760"/>
            <a:ext cx="36576" cy="2697480"/>
          </a:xfrm>
          <a:prstGeom prst="rect">
            <a:avLst/>
          </a:prstGeom>
          <a:solidFill>
            <a:srgbClr val="C8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47888" y="3886200"/>
            <a:ext cx="3291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D89A"/>
                </a:solidFill>
              </a:rPr>
              <a:t>🌟 Influencer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4160520"/>
            <a:ext cx="3291839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C5C5D5"/>
                </a:solidFill>
              </a:rPr>
              <a:t>• Influencer shoot mgmt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5C5D5"/>
                </a:solidFill>
              </a:rPr>
              <a:t>• Social media details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5C5D5"/>
                </a:solidFill>
              </a:rPr>
              <a:t>• Collaboration tracking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5C5D5"/>
                </a:solidFill>
              </a:rPr>
              <a:t>• Contract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8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C8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05  |  DATA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77240"/>
            <a:ext cx="3657600" cy="27432"/>
          </a:xfrm>
          <a:prstGeom prst="rect">
            <a:avLst/>
          </a:prstGeom>
          <a:solidFill>
            <a:srgbClr val="C8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3429000" cy="1280160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960120"/>
            <a:ext cx="3429000" cy="36576"/>
          </a:xfrm>
          <a:prstGeom prst="rect">
            <a:avLst/>
          </a:prstGeom>
          <a:solidFill>
            <a:srgbClr val="C8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241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D89A"/>
                </a:solidFill>
              </a:rPr>
              <a:t>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44168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C5C5D5"/>
                </a:solidFill>
              </a:rPr>
              <a:t>· name, email, password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C5C5D5"/>
                </a:solidFill>
              </a:rPr>
              <a:t>· role (admin/user/demo)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C5C5D5"/>
                </a:solidFill>
              </a:rPr>
              <a:t>· Google OAuth fields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77440"/>
            <a:ext cx="3429000" cy="1280160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377440"/>
            <a:ext cx="3429000" cy="36576"/>
          </a:xfrm>
          <a:prstGeom prst="rect">
            <a:avLst/>
          </a:prstGeom>
          <a:solidFill>
            <a:srgbClr val="C8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4414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D89A"/>
                </a:solidFill>
              </a:rPr>
              <a:t>Lead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761488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C5C5D5"/>
                </a:solidFill>
              </a:rPr>
              <a:t>· clientName, phone, email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C5C5D5"/>
                </a:solidFill>
              </a:rPr>
              <a:t>· status, source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C5C5D5"/>
                </a:solidFill>
              </a:rPr>
              <a:t>· followUpDate, notes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794760"/>
            <a:ext cx="3429000" cy="1280160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794760"/>
            <a:ext cx="3429000" cy="36576"/>
          </a:xfrm>
          <a:prstGeom prst="rect">
            <a:avLst/>
          </a:prstGeom>
          <a:solidFill>
            <a:srgbClr val="C8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8587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D89A"/>
                </a:solidFill>
              </a:rPr>
              <a:t>Edit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C5C5D5"/>
                </a:solidFill>
              </a:rPr>
              <a:t>· clientName, shootType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C5C5D5"/>
                </a:solidFill>
              </a:rPr>
              <a:t>· editStatus, deliveryDate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C5C5D5"/>
                </a:solidFill>
              </a:rPr>
              <a:t>· editor, remarks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212080"/>
            <a:ext cx="3429000" cy="1280160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5212080"/>
            <a:ext cx="3429000" cy="36576"/>
          </a:xfrm>
          <a:prstGeom prst="rect">
            <a:avLst/>
          </a:prstGeom>
          <a:solidFill>
            <a:srgbClr val="C8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27608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D89A"/>
                </a:solidFill>
              </a:rPr>
              <a:t>Maternity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596128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C5C5D5"/>
                </a:solidFill>
              </a:rPr>
              <a:t>· clientName, dueDate, trimester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C5C5D5"/>
                </a:solidFill>
              </a:rPr>
              <a:t>· packageType, shootDate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C5C5D5"/>
                </a:solidFill>
              </a:rPr>
              <a:t>· deliveryStatus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60" y="960120"/>
            <a:ext cx="3429000" cy="1280160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51960" y="960120"/>
            <a:ext cx="3429000" cy="36576"/>
          </a:xfrm>
          <a:prstGeom prst="rect">
            <a:avLst/>
          </a:prstGeom>
          <a:solidFill>
            <a:srgbClr val="C8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10241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D89A"/>
                </a:solidFill>
              </a:rPr>
              <a:t>CorporateEvent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1344168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C5C5D5"/>
                </a:solidFill>
              </a:rPr>
              <a:t>· companyName, eventDate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C5C5D5"/>
                </a:solidFill>
              </a:rPr>
              <a:t>· contactPerson, packageType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C5C5D5"/>
                </a:solidFill>
              </a:rPr>
              <a:t>· venueDetails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51960" y="2377440"/>
            <a:ext cx="3429000" cy="1280160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51960" y="2377440"/>
            <a:ext cx="3429000" cy="36576"/>
          </a:xfrm>
          <a:prstGeom prst="rect">
            <a:avLst/>
          </a:prstGeom>
          <a:solidFill>
            <a:srgbClr val="C8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43400" y="24414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D89A"/>
                </a:solidFill>
              </a:rPr>
              <a:t>Influencer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2761488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C5C5D5"/>
                </a:solidFill>
              </a:rPr>
              <a:t>· name, platform, followers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C5C5D5"/>
                </a:solidFill>
              </a:rPr>
              <a:t>· shootDate, packageType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C5C5D5"/>
                </a:solidFill>
              </a:rPr>
              <a:t>· collaborationStatus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51960" y="3794760"/>
            <a:ext cx="3429000" cy="1280160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51960" y="3794760"/>
            <a:ext cx="3429000" cy="36576"/>
          </a:xfrm>
          <a:prstGeom prst="rect">
            <a:avLst/>
          </a:prstGeom>
          <a:solidFill>
            <a:srgbClr val="C8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43400" y="38587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D89A"/>
                </a:solidFill>
              </a:rPr>
              <a:t>Invoice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43400" y="4178808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C5C5D5"/>
                </a:solidFill>
              </a:rPr>
              <a:t>· clientName, amount, dueDate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C5C5D5"/>
                </a:solidFill>
              </a:rPr>
              <a:t>· status (paid/pending/overdue)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C5C5D5"/>
                </a:solidFill>
              </a:rPr>
              <a:t>· lineItems[ ]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51960" y="5212080"/>
            <a:ext cx="3429000" cy="1280160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51960" y="5212080"/>
            <a:ext cx="3429000" cy="36576"/>
          </a:xfrm>
          <a:prstGeom prst="rect">
            <a:avLst/>
          </a:prstGeom>
          <a:solidFill>
            <a:srgbClr val="C8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43400" y="527608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D89A"/>
                </a:solidFill>
              </a:rPr>
              <a:t>Package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43400" y="5596128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C5C5D5"/>
                </a:solidFill>
              </a:rPr>
              <a:t>· name, price, description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C5C5D5"/>
                </a:solidFill>
              </a:rPr>
              <a:t>· category, features[ ]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38160" y="960120"/>
            <a:ext cx="3429000" cy="1280160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38160" y="960120"/>
            <a:ext cx="3429000" cy="36576"/>
          </a:xfrm>
          <a:prstGeom prst="rect">
            <a:avLst/>
          </a:prstGeom>
          <a:solidFill>
            <a:srgbClr val="C8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0" y="10241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D89A"/>
                </a:solidFill>
              </a:rPr>
              <a:t>TermsCondition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1344168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C5C5D5"/>
                </a:solidFill>
              </a:rPr>
              <a:t>· title, content, version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C5C5D5"/>
                </a:solidFill>
              </a:rPr>
              <a:t>· effectiveDate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38160" y="2377440"/>
            <a:ext cx="3429000" cy="1280160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138160" y="2377440"/>
            <a:ext cx="3429000" cy="36576"/>
          </a:xfrm>
          <a:prstGeom prst="rect">
            <a:avLst/>
          </a:prstGeom>
          <a:solidFill>
            <a:srgbClr val="C8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0" y="24414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D89A"/>
                </a:solidFill>
              </a:rPr>
              <a:t>NotificationLog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2761488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C5C5D5"/>
                </a:solidFill>
              </a:rPr>
              <a:t>· recipient, type, sentAt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C5C5D5"/>
                </a:solidFill>
              </a:rPr>
              <a:t>· status, referenceId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38160" y="3794760"/>
            <a:ext cx="3429000" cy="1280160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138160" y="3794760"/>
            <a:ext cx="3429000" cy="36576"/>
          </a:xfrm>
          <a:prstGeom prst="rect">
            <a:avLst/>
          </a:prstGeom>
          <a:solidFill>
            <a:srgbClr val="C8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9600" y="38587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D89A"/>
                </a:solidFill>
              </a:rPr>
              <a:t>StudioExpense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0" y="4178808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C5C5D5"/>
                </a:solidFill>
              </a:rPr>
              <a:t>· category, amount, date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C5C5D5"/>
                </a:solidFill>
              </a:rPr>
              <a:t>· description, receipt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8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C8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06  |  API ROUTES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77240"/>
            <a:ext cx="3657600" cy="27432"/>
          </a:xfrm>
          <a:prstGeom prst="rect">
            <a:avLst/>
          </a:prstGeom>
          <a:solidFill>
            <a:srgbClr val="C8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2560320" cy="594360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2412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A43E"/>
                </a:solidFill>
              </a:rPr>
              <a:t>/api/auth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6187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5C5D5"/>
                </a:solidFill>
              </a:rPr>
              <a:t>Login, Register, Logout, Password Reset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719072"/>
            <a:ext cx="2560320" cy="594360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7830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A43E"/>
                </a:solidFill>
              </a:rPr>
              <a:t>/api/auth/google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02082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5C5D5"/>
                </a:solidFill>
              </a:rPr>
              <a:t>Google OAuth 2.0 flow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478024"/>
            <a:ext cx="2560320" cy="594360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54203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A43E"/>
                </a:solidFill>
              </a:rPr>
              <a:t>/api/dashboard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77977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5C5D5"/>
                </a:solidFill>
              </a:rPr>
              <a:t>Aggregated KPI data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236976"/>
            <a:ext cx="2560320" cy="594360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30098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A43E"/>
                </a:solidFill>
              </a:rPr>
              <a:t>/api/leads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53872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5C5D5"/>
                </a:solidFill>
              </a:rPr>
              <a:t>CRUD + status update + reminders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995928"/>
            <a:ext cx="2560320" cy="594360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05993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A43E"/>
                </a:solidFill>
              </a:rPr>
              <a:t>/api/edits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2976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5C5D5"/>
                </a:solidFill>
              </a:rPr>
              <a:t>CRUD + delivery status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754879"/>
            <a:ext cx="2560320" cy="594360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81888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A43E"/>
                </a:solidFill>
              </a:rPr>
              <a:t>/api/maternity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056631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5C5D5"/>
                </a:solidFill>
              </a:rPr>
              <a:t>CRUD + shoot scheduling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513831"/>
            <a:ext cx="2560320" cy="594360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5577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A43E"/>
                </a:solidFill>
              </a:rPr>
              <a:t>/api/corporate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815583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5C5D5"/>
                </a:solidFill>
              </a:rPr>
              <a:t>CRUD + event management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960120"/>
            <a:ext cx="2560320" cy="594360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102412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A43E"/>
                </a:solidFill>
              </a:rPr>
              <a:t>/api/influencer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126187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5C5D5"/>
                </a:solidFill>
              </a:rPr>
              <a:t>CRUD + collaboration status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1719072"/>
            <a:ext cx="2560320" cy="594360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17830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A43E"/>
                </a:solidFill>
              </a:rPr>
              <a:t>/api/invoices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202082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5C5D5"/>
                </a:solidFill>
              </a:rPr>
              <a:t>CRUD + PDF generation + payment status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2478024"/>
            <a:ext cx="2560320" cy="594360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254203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A43E"/>
                </a:solidFill>
              </a:rPr>
              <a:t>/api/packages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277977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5C5D5"/>
                </a:solidFill>
              </a:rPr>
              <a:t>CRUD package tiers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3236976"/>
            <a:ext cx="2560320" cy="594360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0" y="330098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A43E"/>
                </a:solidFill>
              </a:rPr>
              <a:t>/api/terms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353872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5C5D5"/>
                </a:solidFill>
              </a:rPr>
              <a:t>CRUD terms &amp; conditions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3995928"/>
            <a:ext cx="2560320" cy="594360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37960" y="405993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A43E"/>
                </a:solidFill>
              </a:rPr>
              <a:t>/api/expenses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7960" y="42976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5C5D5"/>
                </a:solidFill>
              </a:rPr>
              <a:t>CRUD studio expenses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4754879"/>
            <a:ext cx="2560320" cy="594360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7960" y="481888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A43E"/>
                </a:solidFill>
              </a:rPr>
              <a:t>/api/suggestions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7960" y="5056631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5C5D5"/>
                </a:solidFill>
              </a:rPr>
              <a:t>Autocomplete suggestions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263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A8A9A"/>
                </a:solidFill>
              </a:rPr>
              <a:t>All routes protected by JWT middleware (except /auth &amp; /auth/google)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8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C8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07  |  FRONTEND PAGES &amp; COMPONENTS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77240"/>
            <a:ext cx="5943600" cy="27432"/>
          </a:xfrm>
          <a:prstGeom prst="rect">
            <a:avLst/>
          </a:prstGeom>
          <a:solidFill>
            <a:srgbClr val="C8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144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D89A"/>
                </a:solidFill>
              </a:rPr>
              <a:t>Pages  (21 total)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74066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C5C5D5"/>
                </a:solidFill>
              </a:rPr>
              <a:t>▸  LoginPage / SignupPage / ForgotPassword / ResetPassword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5C5D5"/>
                </a:solidFill>
              </a:rPr>
              <a:t>▸  DashboardOverviewPage  –  KPIs, charts, upcoming bookings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5C5D5"/>
                </a:solidFill>
              </a:rPr>
              <a:t>▸  LeadsPage + LeadFormPage  –  Pipeline management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5C5D5"/>
                </a:solidFill>
              </a:rPr>
              <a:t>▸  EditsPage + EditFormPage  –  Post-shoot editing tracker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5C5D5"/>
                </a:solidFill>
              </a:rPr>
              <a:t>▸  MaternityPage + MaternityFormPage  –  Maternity shoot management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5C5D5"/>
                </a:solidFill>
              </a:rPr>
              <a:t>▸  CorporatePage + CorporateFormPage  –  Corporate event bookings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5C5D5"/>
                </a:solidFill>
              </a:rPr>
              <a:t>▸  InfluencerPage + InfluencerFormPage  –  Influencer management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5C5D5"/>
                </a:solidFill>
              </a:rPr>
              <a:t>▸  InvoicesPage + InvoiceFormPage  –  Invoice creation &amp; tracking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5C5D5"/>
                </a:solidFill>
              </a:rPr>
              <a:t>▸  PackagesPage  –  Service package management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5C5D5"/>
                </a:solidFill>
              </a:rPr>
              <a:t>▸  TermsConditionsPage + TermsConditionFormPage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5C5D5"/>
                </a:solidFill>
              </a:rPr>
              <a:t>▸  ProfilePage  –  User profile &amp; settings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9144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D89A"/>
                </a:solidFill>
              </a:rPr>
              <a:t>Shared Components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132588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C5C5D5"/>
                </a:solidFill>
              </a:rPr>
              <a:t>▸  StatCard  –  KPI metric display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5C5D5"/>
                </a:solidFill>
              </a:rPr>
              <a:t>▸  DateTimePicker  –  Custom picker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5C5D5"/>
                </a:solidFill>
              </a:rPr>
              <a:t>▸  AutocompleteInput  –  Smart search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5C5D5"/>
                </a:solidFill>
              </a:rPr>
              <a:t>▸  GlobalReminderModal  –  Reminders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5C5D5"/>
                </a:solidFill>
              </a:rPr>
              <a:t>▸  Loader  –  Loading states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5C5D5"/>
                </a:solidFill>
              </a:rPr>
              <a:t>▸  Modals  –  Confirm / Info dialogs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43891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D89A"/>
                </a:solidFill>
              </a:rPr>
              <a:t>Layouts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480060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C5C5D5"/>
                </a:solidFill>
              </a:rPr>
              <a:t>▸  MainLayout  –  Sidebar + top nav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5C5D5"/>
                </a:solidFill>
              </a:rPr>
              <a:t>▸  AuthLayout  –  Centered auth forms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8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C8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08  |  AUTHENTICATION &amp; SECURITY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77240"/>
            <a:ext cx="5486400" cy="27432"/>
          </a:xfrm>
          <a:prstGeom prst="rect">
            <a:avLst/>
          </a:prstGeom>
          <a:solidFill>
            <a:srgbClr val="C8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2743200" cy="5440680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36576" cy="5440680"/>
          </a:xfrm>
          <a:prstGeom prst="rect">
            <a:avLst/>
          </a:prstGeom>
          <a:solidFill>
            <a:srgbClr val="C8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143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D89A"/>
                </a:solidFill>
              </a:rPr>
              <a:t>JWT Authentication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417319"/>
            <a:ext cx="25603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C5C5D5"/>
                </a:solidFill>
              </a:rPr>
              <a:t>• Stateless JWT tokens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5C5D5"/>
                </a:solidFill>
              </a:rPr>
              <a:t>• Access token stored in httpOnly cookie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5C5D5"/>
                </a:solidFill>
              </a:rPr>
              <a:t>• Auto-refresh on API calls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5C5D5"/>
                </a:solidFill>
              </a:rPr>
              <a:t>• Role-based access control (admin / user / demo)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051560"/>
            <a:ext cx="2743200" cy="5440680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1051560"/>
            <a:ext cx="36576" cy="5440680"/>
          </a:xfrm>
          <a:prstGeom prst="rect">
            <a:avLst/>
          </a:prstGeom>
          <a:solidFill>
            <a:srgbClr val="C8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01568" y="1143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D89A"/>
                </a:solidFill>
              </a:rPr>
              <a:t>Google OAuth 2.0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1568" y="1417319"/>
            <a:ext cx="25603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C5C5D5"/>
                </a:solidFill>
              </a:rPr>
              <a:t>• Sign in with Google button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5C5D5"/>
                </a:solidFill>
              </a:rPr>
              <a:t>• googleAuthRoutes handles callback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5C5D5"/>
                </a:solidFill>
              </a:rPr>
              <a:t>• Profile synced with User model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5C5D5"/>
                </a:solidFill>
              </a:rPr>
              <a:t>• Existing accounts auto-linked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051560"/>
            <a:ext cx="2743200" cy="5440680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051560"/>
            <a:ext cx="36576" cy="5440680"/>
          </a:xfrm>
          <a:prstGeom prst="rect">
            <a:avLst/>
          </a:prstGeom>
          <a:solidFill>
            <a:srgbClr val="C8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1143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D89A"/>
                </a:solidFill>
              </a:rPr>
              <a:t>Password Security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1417319"/>
            <a:ext cx="25603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C5C5D5"/>
                </a:solidFill>
              </a:rPr>
              <a:t>• bcrypt password hashing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5C5D5"/>
                </a:solidFill>
              </a:rPr>
              <a:t>• Forgot-password email flow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5C5D5"/>
                </a:solidFill>
              </a:rPr>
              <a:t>• Time-limited reset tokens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5C5D5"/>
                </a:solidFill>
              </a:rPr>
              <a:t>• Reset token hashed in DB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1051560"/>
            <a:ext cx="2743200" cy="5440680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0" y="1051560"/>
            <a:ext cx="36576" cy="5440680"/>
          </a:xfrm>
          <a:prstGeom prst="rect">
            <a:avLst/>
          </a:prstGeom>
          <a:solidFill>
            <a:srgbClr val="C8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53728" y="1143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D89A"/>
                </a:solidFill>
              </a:rPr>
              <a:t>Middleware Guards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3728" y="1417319"/>
            <a:ext cx="25603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C5C5D5"/>
                </a:solidFill>
              </a:rPr>
              <a:t>• authMiddleware on all protected routes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5C5D5"/>
                </a:solidFill>
              </a:rPr>
              <a:t>• Request logging middleware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5C5D5"/>
                </a:solidFill>
              </a:rPr>
              <a:t>• Error handling middleware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5C5D5"/>
                </a:solidFill>
              </a:rPr>
              <a:t>• CORS + Helmet headers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8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C8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09  |  INVOICE &amp; PACKAGE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77240"/>
            <a:ext cx="6400800" cy="27432"/>
          </a:xfrm>
          <a:prstGeom prst="rect">
            <a:avLst/>
          </a:prstGeom>
          <a:solidFill>
            <a:srgbClr val="C8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8D89A"/>
                </a:solidFill>
              </a:rPr>
              <a:t>Invoice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5C5D5"/>
                </a:solidFill>
              </a:rPr>
              <a:t>▸  Create invoices with multiple line items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5C5D5"/>
                </a:solidFill>
              </a:rPr>
              <a:t>▸  Statuses:  Draft → Sent → Paid / Overdue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5C5D5"/>
                </a:solidFill>
              </a:rPr>
              <a:t>▸  Automatic overdue detection &amp; email reminders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5C5D5"/>
                </a:solidFill>
              </a:rPr>
              <a:t>▸  Payment tracking with partial payment support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5C5D5"/>
                </a:solidFill>
              </a:rPr>
              <a:t>▸  Invoice PDF generation  [ placeholder — attach screenshot ]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5C5D5"/>
                </a:solidFill>
              </a:rPr>
              <a:t>▸  Client-facing invoice view link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0058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8D89A"/>
                </a:solidFill>
              </a:rPr>
              <a:t>Package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50876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5C5D5"/>
                </a:solidFill>
              </a:rPr>
              <a:t>▸  Define service packages with pricing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5C5D5"/>
                </a:solidFill>
              </a:rPr>
              <a:t>▸  Assign packages to any booking type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5C5D5"/>
                </a:solidFill>
              </a:rPr>
              <a:t>▸  Package tiers:  Basic / Standard / Premium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5C5D5"/>
                </a:solidFill>
              </a:rPr>
              <a:t>▸  Custom feature lists per package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5C5D5"/>
                </a:solidFill>
              </a:rPr>
              <a:t>▸  Linked across Maternity, Corporate &amp; Influencer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846320"/>
            <a:ext cx="11155680" cy="27432"/>
          </a:xfrm>
          <a:prstGeom prst="rect">
            <a:avLst/>
          </a:prstGeom>
          <a:solidFill>
            <a:srgbClr val="C8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5029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D89A"/>
                </a:solidFill>
              </a:rPr>
              <a:t>Terms &amp; Conditions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440680"/>
            <a:ext cx="5303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C5C5D5"/>
                </a:solidFill>
              </a:rPr>
              <a:t>▸  Versioned T&amp;C documents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5C5D5"/>
                </a:solidFill>
              </a:rPr>
              <a:t>▸  Client acceptance tracking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5C5D5"/>
                </a:solidFill>
              </a:rPr>
              <a:t>▸  Linked to invoice &amp; booking flows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50292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D89A"/>
                </a:solidFill>
              </a:rPr>
              <a:t>Studio Expenses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5440680"/>
            <a:ext cx="51206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C5C5D5"/>
                </a:solidFill>
              </a:rPr>
              <a:t>▸  Track equipment, venue &amp; misc costs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5C5D5"/>
                </a:solidFill>
              </a:rPr>
              <a:t>▸  Category-based expense breakdown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5C5D5"/>
                </a:solidFill>
              </a:rPr>
              <a:t>▸  Visible on Dashboard for profit analysis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8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C8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10  |  DEMO MODE &amp; AUTO-RESET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77240"/>
            <a:ext cx="5029200" cy="27432"/>
          </a:xfrm>
          <a:prstGeom prst="rect">
            <a:avLst/>
          </a:prstGeom>
          <a:solidFill>
            <a:srgbClr val="C8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D89A"/>
                </a:solidFill>
              </a:rPr>
              <a:t>How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5C5D5"/>
                </a:solidFill>
              </a:rPr>
              <a:t>▸  Dedicated "demo@kairos.com" account with role = demo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5C5D5"/>
                </a:solidFill>
              </a:rPr>
              <a:t>▸  Starts with a clean, pre-seeded dataset on every session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5C5D5"/>
                </a:solidFill>
              </a:rPr>
              <a:t>▸  All CRUD operations work normally during the session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5C5D5"/>
                </a:solidFill>
              </a:rPr>
              <a:t>▸  On logout → server wipes all demo-owned records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5C5D5"/>
                </a:solidFill>
              </a:rPr>
              <a:t>▸  Fresh seed data is re-inserted automatically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5C5D5"/>
                </a:solidFill>
              </a:rPr>
              <a:t>▸  Ideal for client presentations &amp; onboarding demos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0058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D89A"/>
                </a:solidFill>
              </a:rPr>
              <a:t>Technical Details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46304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5C5D5"/>
                </a:solidFill>
              </a:rPr>
              <a:t>▸  User.role === 'demo' gates the reset logic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5C5D5"/>
                </a:solidFill>
              </a:rPr>
              <a:t>▸  POST /api/auth/logout triggers resetDemoData()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5C5D5"/>
                </a:solidFill>
              </a:rPr>
              <a:t>▸  resetDemoData() deletes &amp; re-seeds per-model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5C5D5"/>
                </a:solidFill>
              </a:rPr>
              <a:t>▸  Seed data defined in server/src/services/demoSeed.ts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5C5D5"/>
                </a:solidFill>
              </a:rPr>
              <a:t>▸  Zero impact on real user 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029200"/>
            <a:ext cx="11155680" cy="1463040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029200"/>
            <a:ext cx="11155680" cy="36576"/>
          </a:xfrm>
          <a:prstGeom prst="rect">
            <a:avLst/>
          </a:prstGeom>
          <a:solidFill>
            <a:srgbClr val="C8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10235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A43E"/>
                </a:solidFill>
              </a:rPr>
              <a:t>⚠  Demo Account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468112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5C5D5"/>
                </a:solidFill>
              </a:rPr>
              <a:t>The demo account is fully functional but isolated. Any data created during a demo session is permanently deleted on logout and cannot be recovered. This ensures a consistent, repeatable experience for every demo user.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8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C8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11  |  SCREENSHOTS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77240"/>
            <a:ext cx="3200400" cy="27432"/>
          </a:xfrm>
          <a:prstGeom prst="rect">
            <a:avLst/>
          </a:prstGeom>
          <a:solidFill>
            <a:srgbClr val="C8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5349240" cy="2560320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5349240" cy="36576"/>
          </a:xfrm>
          <a:prstGeom prst="rect">
            <a:avLst/>
          </a:prstGeom>
          <a:solidFill>
            <a:srgbClr val="C8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97280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8D89A"/>
                </a:solidFill>
              </a:rPr>
              <a:t>Dashboard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8A8A9A"/>
                </a:solidFill>
              </a:rPr>
              <a:t>[ Screenshot to be added ]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005840"/>
            <a:ext cx="5349240" cy="2560320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005840"/>
            <a:ext cx="5349240" cy="36576"/>
          </a:xfrm>
          <a:prstGeom prst="rect">
            <a:avLst/>
          </a:prstGeom>
          <a:solidFill>
            <a:srgbClr val="C8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097280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8D89A"/>
                </a:solidFill>
              </a:rPr>
              <a:t>Leads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20240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8A8A9A"/>
                </a:solidFill>
              </a:rPr>
              <a:t>[ Screenshot to be added 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840480"/>
            <a:ext cx="5349240" cy="2560320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840480"/>
            <a:ext cx="5349240" cy="36576"/>
          </a:xfrm>
          <a:prstGeom prst="rect">
            <a:avLst/>
          </a:prstGeom>
          <a:solidFill>
            <a:srgbClr val="C8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931920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8D89A"/>
                </a:solidFill>
              </a:rPr>
              <a:t>Invoice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754880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8A8A9A"/>
                </a:solidFill>
              </a:rPr>
              <a:t>[ Screenshot to be added 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3840480"/>
            <a:ext cx="5349240" cy="2560320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3840480"/>
            <a:ext cx="5349240" cy="36576"/>
          </a:xfrm>
          <a:prstGeom prst="rect">
            <a:avLst/>
          </a:prstGeom>
          <a:solidFill>
            <a:srgbClr val="C8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931920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8D89A"/>
                </a:solidFill>
              </a:rPr>
              <a:t>Booking 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754880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8A8A9A"/>
                </a:solidFill>
              </a:rPr>
              <a:t>[ Screenshot to be added 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8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C8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12  |  CONCLUSION &amp;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77240"/>
            <a:ext cx="5943600" cy="27432"/>
          </a:xfrm>
          <a:prstGeom prst="rect">
            <a:avLst/>
          </a:prstGeom>
          <a:solidFill>
            <a:srgbClr val="C8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D89A"/>
                </a:solidFill>
              </a:rPr>
              <a:t>What we've built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5C5D5"/>
                </a:solidFill>
              </a:rPr>
              <a:t>▸  Full-stack CRM tailored for photography studios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5C5D5"/>
                </a:solidFill>
              </a:rPr>
              <a:t>▸  11 data models covering every business area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5C5D5"/>
                </a:solidFill>
              </a:rPr>
              <a:t>▸  Secure JWT + Google OAuth authentication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5C5D5"/>
                </a:solidFill>
              </a:rPr>
              <a:t>▸  Automated invoicing with email reminders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5C5D5"/>
                </a:solidFill>
              </a:rPr>
              <a:t>▸  Demo mode for safe, repeatable presentations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5C5D5"/>
                </a:solidFill>
              </a:rPr>
              <a:t>▸  Clean, responsive dark-themed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0058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D89A"/>
                </a:solidFill>
              </a:rPr>
              <a:t>Planned 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417320"/>
            <a:ext cx="5212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5C5D5"/>
                </a:solidFill>
              </a:rPr>
              <a:t>▸  Mobile-responsive redesign &amp; PWA support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5C5D5"/>
                </a:solidFill>
              </a:rPr>
              <a:t>▸  Calendar view for shoot scheduling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5C5D5"/>
                </a:solidFill>
              </a:rPr>
              <a:t>▸  WhatsApp / SMS reminder integration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5C5D5"/>
                </a:solidFill>
              </a:rPr>
              <a:t>▸  Client portal (public-facing booking page)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5C5D5"/>
                </a:solidFill>
              </a:rPr>
              <a:t>▸  Analytics &amp; reporting exports (CSV / PDF)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5C5D5"/>
                </a:solidFill>
              </a:rPr>
              <a:t>▸  Role management &amp; team collaboration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5C5D5"/>
                </a:solidFill>
              </a:rPr>
              <a:t>▸  CI / CD pipeline &amp; cloud deployment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120640"/>
            <a:ext cx="11155680" cy="1417320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120640"/>
            <a:ext cx="11155680" cy="36576"/>
          </a:xfrm>
          <a:prstGeom prst="rect">
            <a:avLst/>
          </a:prstGeom>
          <a:solidFill>
            <a:srgbClr val="C8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553212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KAIROS CRM – Built with React · Node.js · MongoDB · TypeScript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98932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8D89A"/>
                </a:solidFill>
              </a:rPr>
              <a:t>Thank you  ·  Questions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